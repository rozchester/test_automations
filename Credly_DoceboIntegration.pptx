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Lst>
  <p:sldSz cx="12192000" cy="6858000"/>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CDF6B7-4D58-4DFF-B99E-D5FD86EDE397}" v="15" dt="2026-03-02T17:33:58.7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225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alind Chester" userId="80db781d-9f8c-4ba7-b45f-41f1c1e3cce9" providerId="ADAL" clId="{1E89C04B-3857-4923-9A35-141603177CBA}"/>
    <pc:docChg chg="undo custSel addSld modSld">
      <pc:chgData name="Rosalind Chester" userId="80db781d-9f8c-4ba7-b45f-41f1c1e3cce9" providerId="ADAL" clId="{1E89C04B-3857-4923-9A35-141603177CBA}" dt="2026-03-19T15:56:28.382" v="6518" actId="20577"/>
      <pc:docMkLst>
        <pc:docMk/>
      </pc:docMkLst>
      <pc:sldChg chg="modSp mod">
        <pc:chgData name="Rosalind Chester" userId="80db781d-9f8c-4ba7-b45f-41f1c1e3cce9" providerId="ADAL" clId="{1E89C04B-3857-4923-9A35-141603177CBA}" dt="2026-03-02T17:38:38.520" v="6481" actId="20577"/>
        <pc:sldMkLst>
          <pc:docMk/>
          <pc:sldMk cId="322373409" sldId="256"/>
        </pc:sldMkLst>
        <pc:spChg chg="mod">
          <ac:chgData name="Rosalind Chester" userId="80db781d-9f8c-4ba7-b45f-41f1c1e3cce9" providerId="ADAL" clId="{1E89C04B-3857-4923-9A35-141603177CBA}" dt="2026-03-02T17:38:38.520" v="6481" actId="20577"/>
          <ac:spMkLst>
            <pc:docMk/>
            <pc:sldMk cId="322373409" sldId="256"/>
            <ac:spMk id="6" creationId="{2E913934-A9C0-40C3-17C4-468F122CA768}"/>
          </ac:spMkLst>
        </pc:spChg>
        <pc:spChg chg="mod">
          <ac:chgData name="Rosalind Chester" userId="80db781d-9f8c-4ba7-b45f-41f1c1e3cce9" providerId="ADAL" clId="{1E89C04B-3857-4923-9A35-141603177CBA}" dt="2026-03-02T17:38:06.859" v="6480" actId="20577"/>
          <ac:spMkLst>
            <pc:docMk/>
            <pc:sldMk cId="322373409" sldId="256"/>
            <ac:spMk id="13" creationId="{7A105F17-195E-FD63-BB0A-867B33E8F2A7}"/>
          </ac:spMkLst>
        </pc:spChg>
      </pc:sldChg>
      <pc:sldChg chg="modSp new mod">
        <pc:chgData name="Rosalind Chester" userId="80db781d-9f8c-4ba7-b45f-41f1c1e3cce9" providerId="ADAL" clId="{1E89C04B-3857-4923-9A35-141603177CBA}" dt="2026-03-02T17:23:51.428" v="5754" actId="20577"/>
        <pc:sldMkLst>
          <pc:docMk/>
          <pc:sldMk cId="1951461925" sldId="257"/>
        </pc:sldMkLst>
        <pc:spChg chg="mod">
          <ac:chgData name="Rosalind Chester" userId="80db781d-9f8c-4ba7-b45f-41f1c1e3cce9" providerId="ADAL" clId="{1E89C04B-3857-4923-9A35-141603177CBA}" dt="2026-03-02T17:23:51.428" v="5754" actId="20577"/>
          <ac:spMkLst>
            <pc:docMk/>
            <pc:sldMk cId="1951461925" sldId="257"/>
            <ac:spMk id="2" creationId="{0DE1B91D-29EB-101C-8D73-5C3125512B09}"/>
          </ac:spMkLst>
        </pc:spChg>
        <pc:spChg chg="mod">
          <ac:chgData name="Rosalind Chester" userId="80db781d-9f8c-4ba7-b45f-41f1c1e3cce9" providerId="ADAL" clId="{1E89C04B-3857-4923-9A35-141603177CBA}" dt="2026-03-02T17:23:33.780" v="5734" actId="20577"/>
          <ac:spMkLst>
            <pc:docMk/>
            <pc:sldMk cId="1951461925" sldId="257"/>
            <ac:spMk id="3" creationId="{578AE11E-E44A-B078-9B50-C9CA14DFF449}"/>
          </ac:spMkLst>
        </pc:spChg>
      </pc:sldChg>
      <pc:sldChg chg="modSp add mod modShow">
        <pc:chgData name="Rosalind Chester" userId="80db781d-9f8c-4ba7-b45f-41f1c1e3cce9" providerId="ADAL" clId="{1E89C04B-3857-4923-9A35-141603177CBA}" dt="2026-03-02T17:41:23.886" v="6484" actId="729"/>
        <pc:sldMkLst>
          <pc:docMk/>
          <pc:sldMk cId="1818533669" sldId="258"/>
        </pc:sldMkLst>
        <pc:spChg chg="mod">
          <ac:chgData name="Rosalind Chester" userId="80db781d-9f8c-4ba7-b45f-41f1c1e3cce9" providerId="ADAL" clId="{1E89C04B-3857-4923-9A35-141603177CBA}" dt="2026-03-02T17:39:20.577" v="6483" actId="207"/>
          <ac:spMkLst>
            <pc:docMk/>
            <pc:sldMk cId="1818533669" sldId="258"/>
            <ac:spMk id="2" creationId="{AA210558-E190-51B1-FF7A-F2075FA2C788}"/>
          </ac:spMkLst>
        </pc:spChg>
      </pc:sldChg>
      <pc:sldChg chg="modSp add mod">
        <pc:chgData name="Rosalind Chester" userId="80db781d-9f8c-4ba7-b45f-41f1c1e3cce9" providerId="ADAL" clId="{1E89C04B-3857-4923-9A35-141603177CBA}" dt="2026-03-19T15:56:28.382" v="6518" actId="20577"/>
        <pc:sldMkLst>
          <pc:docMk/>
          <pc:sldMk cId="3072358967" sldId="259"/>
        </pc:sldMkLst>
        <pc:spChg chg="mod">
          <ac:chgData name="Rosalind Chester" userId="80db781d-9f8c-4ba7-b45f-41f1c1e3cce9" providerId="ADAL" clId="{1E89C04B-3857-4923-9A35-141603177CBA}" dt="2026-03-19T15:56:28.382" v="6518" actId="20577"/>
          <ac:spMkLst>
            <pc:docMk/>
            <pc:sldMk cId="3072358967" sldId="259"/>
            <ac:spMk id="13" creationId="{ECB30F71-59C3-7D49-B9AD-B9339B06BFA5}"/>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BBF472-1B73-3B43-95AF-0C1B1F9F6491}"/>
              </a:ext>
            </a:extLst>
          </p:cNvPr>
          <p:cNvPicPr>
            <a:picLocks noChangeAspect="1"/>
          </p:cNvPicPr>
          <p:nvPr/>
        </p:nvPicPr>
        <p:blipFill>
          <a:blip r:embed="rId3"/>
          <a:srcRect/>
          <a:stretch/>
        </p:blipFill>
        <p:spPr>
          <a:xfrm>
            <a:off x="10002076" y="434118"/>
            <a:ext cx="1416904" cy="396123"/>
          </a:xfrm>
          <a:prstGeom prst="rect">
            <a:avLst/>
          </a:prstGeom>
        </p:spPr>
      </p:pic>
      <p:sp>
        <p:nvSpPr>
          <p:cNvPr id="8" name="Text Placeholder 7">
            <a:extLst>
              <a:ext uri="{FF2B5EF4-FFF2-40B4-BE49-F238E27FC236}">
                <a16:creationId xmlns:a16="http://schemas.microsoft.com/office/drawing/2014/main" id="{E223386B-1C68-DF4A-9B3A-6A085AC83704}"/>
              </a:ext>
            </a:extLst>
          </p:cNvPr>
          <p:cNvSpPr>
            <a:spLocks noGrp="1"/>
          </p:cNvSpPr>
          <p:nvPr>
            <p:ph type="body" sz="quarter" idx="11" hasCustomPrompt="1"/>
          </p:nvPr>
        </p:nvSpPr>
        <p:spPr>
          <a:xfrm>
            <a:off x="535271" y="3881002"/>
            <a:ext cx="3963987" cy="376891"/>
          </a:xfrm>
          <a:prstGeom prst="rect">
            <a:avLst/>
          </a:prstGeom>
        </p:spPr>
        <p:txBody>
          <a:bodyPr/>
          <a:lstStyle>
            <a:lvl1pPr marL="0" indent="0">
              <a:buNone/>
              <a:defRPr sz="2000" b="0" i="0">
                <a:solidFill>
                  <a:schemeClr val="bg1"/>
                </a:solidFill>
                <a:latin typeface="HelveticaNeueLT Pro 35 Th" panose="020B0403020202020204" pitchFamily="34" charset="77"/>
                <a:ea typeface="Helvetica Neue" panose="02000503000000020004" pitchFamily="2" charset="0"/>
                <a:cs typeface="Helvetica Neue" panose="02000503000000020004" pitchFamily="2" charset="0"/>
              </a:defRPr>
            </a:lvl1pPr>
          </a:lstStyle>
          <a:p>
            <a:pPr lvl="0"/>
            <a:r>
              <a:rPr lang="en-US"/>
              <a:t>January, 20  2022</a:t>
            </a:r>
          </a:p>
        </p:txBody>
      </p:sp>
      <p:sp>
        <p:nvSpPr>
          <p:cNvPr id="10" name="Text Placeholder 9">
            <a:extLst>
              <a:ext uri="{FF2B5EF4-FFF2-40B4-BE49-F238E27FC236}">
                <a16:creationId xmlns:a16="http://schemas.microsoft.com/office/drawing/2014/main" id="{31E128A7-202B-B744-A42C-868856F40B4B}"/>
              </a:ext>
            </a:extLst>
          </p:cNvPr>
          <p:cNvSpPr>
            <a:spLocks noGrp="1"/>
          </p:cNvSpPr>
          <p:nvPr>
            <p:ph type="body" sz="quarter" idx="12" hasCustomPrompt="1"/>
          </p:nvPr>
        </p:nvSpPr>
        <p:spPr>
          <a:xfrm>
            <a:off x="535270" y="2970527"/>
            <a:ext cx="6891611" cy="781050"/>
          </a:xfrm>
          <a:prstGeom prst="rect">
            <a:avLst/>
          </a:prstGeom>
        </p:spPr>
        <p:txBody>
          <a:bodyPr/>
          <a:lstStyle>
            <a:lvl1pPr marL="0" indent="0">
              <a:buNone/>
              <a:defRPr sz="4400" b="0" i="0">
                <a:solidFill>
                  <a:schemeClr val="bg1"/>
                </a:solidFill>
                <a:latin typeface="HelveticaNeueLT Pro 47 LtCn" panose="020B0406020202030204" pitchFamily="34" charset="77"/>
              </a:defRPr>
            </a:lvl1pPr>
          </a:lstStyle>
          <a:p>
            <a:pPr lvl="0"/>
            <a:r>
              <a:rPr lang="en-US"/>
              <a:t>Title Here</a:t>
            </a:r>
          </a:p>
        </p:txBody>
      </p:sp>
      <p:sp>
        <p:nvSpPr>
          <p:cNvPr id="12" name="Text Placeholder 11">
            <a:extLst>
              <a:ext uri="{FF2B5EF4-FFF2-40B4-BE49-F238E27FC236}">
                <a16:creationId xmlns:a16="http://schemas.microsoft.com/office/drawing/2014/main" id="{051584BC-B52D-9F48-AF59-983D9A0FC7E3}"/>
              </a:ext>
            </a:extLst>
          </p:cNvPr>
          <p:cNvSpPr>
            <a:spLocks noGrp="1"/>
          </p:cNvSpPr>
          <p:nvPr>
            <p:ph type="body" sz="quarter" idx="13" hasCustomPrompt="1"/>
          </p:nvPr>
        </p:nvSpPr>
        <p:spPr>
          <a:xfrm>
            <a:off x="535270" y="6316359"/>
            <a:ext cx="2480438" cy="314785"/>
          </a:xfrm>
          <a:prstGeom prst="rect">
            <a:avLst/>
          </a:prstGeom>
        </p:spPr>
        <p:txBody>
          <a:bodyPr/>
          <a:lstStyle>
            <a:lvl1pPr marL="0" indent="0">
              <a:buNone/>
              <a:defRPr sz="1400" b="0" i="0">
                <a:solidFill>
                  <a:schemeClr val="bg1"/>
                </a:solidFill>
                <a:latin typeface="HelveticaNeueLT Pro 47 LtCn" panose="020B0406020202030204" pitchFamily="34" charset="77"/>
              </a:defRPr>
            </a:lvl1pPr>
          </a:lstStyle>
          <a:p>
            <a:pPr lvl="0"/>
            <a:r>
              <a:rPr lang="en-US"/>
              <a:t>Project name</a:t>
            </a:r>
          </a:p>
        </p:txBody>
      </p:sp>
    </p:spTree>
    <p:extLst>
      <p:ext uri="{BB962C8B-B14F-4D97-AF65-F5344CB8AC3E}">
        <p14:creationId xmlns:p14="http://schemas.microsoft.com/office/powerpoint/2010/main" val="2062910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186020-74EF-1240-9426-A58660C88DA9}"/>
              </a:ext>
            </a:extLst>
          </p:cNvPr>
          <p:cNvPicPr>
            <a:picLocks noChangeAspect="1"/>
          </p:cNvPicPr>
          <p:nvPr/>
        </p:nvPicPr>
        <p:blipFill>
          <a:blip r:embed="rId3"/>
          <a:srcRect/>
          <a:stretch/>
        </p:blipFill>
        <p:spPr>
          <a:xfrm>
            <a:off x="8654906" y="367014"/>
            <a:ext cx="2717850" cy="396124"/>
          </a:xfrm>
          <a:prstGeom prst="rect">
            <a:avLst/>
          </a:prstGeom>
        </p:spPr>
      </p:pic>
      <p:sp>
        <p:nvSpPr>
          <p:cNvPr id="6" name="Text Placeholder 7">
            <a:extLst>
              <a:ext uri="{FF2B5EF4-FFF2-40B4-BE49-F238E27FC236}">
                <a16:creationId xmlns:a16="http://schemas.microsoft.com/office/drawing/2014/main" id="{23800DA5-5E27-0345-BE0E-F72F772AA65D}"/>
              </a:ext>
            </a:extLst>
          </p:cNvPr>
          <p:cNvSpPr>
            <a:spLocks noGrp="1"/>
          </p:cNvSpPr>
          <p:nvPr>
            <p:ph type="body" sz="quarter" idx="11" hasCustomPrompt="1"/>
          </p:nvPr>
        </p:nvSpPr>
        <p:spPr>
          <a:xfrm>
            <a:off x="535271" y="3881002"/>
            <a:ext cx="3963987" cy="376891"/>
          </a:xfrm>
          <a:prstGeom prst="rect">
            <a:avLst/>
          </a:prstGeom>
        </p:spPr>
        <p:txBody>
          <a:bodyPr/>
          <a:lstStyle>
            <a:lvl1pPr marL="0" indent="0">
              <a:buNone/>
              <a:defRPr sz="2000" b="0" i="0">
                <a:solidFill>
                  <a:schemeClr val="bg1"/>
                </a:solidFill>
                <a:latin typeface="HelveticaNeueLT Pro 35 Th" panose="020B0403020202020204" pitchFamily="34" charset="77"/>
                <a:ea typeface="Helvetica Neue" panose="02000503000000020004" pitchFamily="2" charset="0"/>
                <a:cs typeface="Helvetica Neue" panose="02000503000000020004" pitchFamily="2" charset="0"/>
              </a:defRPr>
            </a:lvl1pPr>
          </a:lstStyle>
          <a:p>
            <a:pPr lvl="0"/>
            <a:r>
              <a:rPr lang="en-US"/>
              <a:t>Team/BU</a:t>
            </a:r>
          </a:p>
        </p:txBody>
      </p:sp>
      <p:sp>
        <p:nvSpPr>
          <p:cNvPr id="7" name="Text Placeholder 9">
            <a:extLst>
              <a:ext uri="{FF2B5EF4-FFF2-40B4-BE49-F238E27FC236}">
                <a16:creationId xmlns:a16="http://schemas.microsoft.com/office/drawing/2014/main" id="{D6BB0EAD-6B43-5A46-A962-97E24EFBB23B}"/>
              </a:ext>
            </a:extLst>
          </p:cNvPr>
          <p:cNvSpPr>
            <a:spLocks noGrp="1"/>
          </p:cNvSpPr>
          <p:nvPr>
            <p:ph type="body" sz="quarter" idx="12" hasCustomPrompt="1"/>
          </p:nvPr>
        </p:nvSpPr>
        <p:spPr>
          <a:xfrm>
            <a:off x="535270" y="2970527"/>
            <a:ext cx="6891611" cy="781050"/>
          </a:xfrm>
          <a:prstGeom prst="rect">
            <a:avLst/>
          </a:prstGeom>
        </p:spPr>
        <p:txBody>
          <a:bodyPr/>
          <a:lstStyle>
            <a:lvl1pPr marL="0" indent="0">
              <a:buNone/>
              <a:defRPr sz="4400" b="0" i="0">
                <a:solidFill>
                  <a:schemeClr val="bg1"/>
                </a:solidFill>
                <a:latin typeface="HelveticaNeueLT Pro 47 LtCn" panose="020B0406020202030204" pitchFamily="34" charset="77"/>
              </a:defRPr>
            </a:lvl1pPr>
          </a:lstStyle>
          <a:p>
            <a:pPr lvl="0"/>
            <a:r>
              <a:rPr lang="en-US"/>
              <a:t>Title Here</a:t>
            </a:r>
          </a:p>
        </p:txBody>
      </p:sp>
      <p:sp>
        <p:nvSpPr>
          <p:cNvPr id="8" name="Text Placeholder 11">
            <a:extLst>
              <a:ext uri="{FF2B5EF4-FFF2-40B4-BE49-F238E27FC236}">
                <a16:creationId xmlns:a16="http://schemas.microsoft.com/office/drawing/2014/main" id="{68E9B2E2-CD67-EB45-8BC4-02C78805A444}"/>
              </a:ext>
            </a:extLst>
          </p:cNvPr>
          <p:cNvSpPr>
            <a:spLocks noGrp="1"/>
          </p:cNvSpPr>
          <p:nvPr>
            <p:ph type="body" sz="quarter" idx="13" hasCustomPrompt="1"/>
          </p:nvPr>
        </p:nvSpPr>
        <p:spPr>
          <a:xfrm>
            <a:off x="535270" y="6316359"/>
            <a:ext cx="2480438" cy="314785"/>
          </a:xfrm>
          <a:prstGeom prst="rect">
            <a:avLst/>
          </a:prstGeom>
        </p:spPr>
        <p:txBody>
          <a:bodyPr/>
          <a:lstStyle>
            <a:lvl1pPr marL="0" indent="0">
              <a:buNone/>
              <a:defRPr sz="1400" b="0" i="0">
                <a:solidFill>
                  <a:schemeClr val="bg1"/>
                </a:solidFill>
                <a:latin typeface="HelveticaNeueLT Pro 47 LtCn" panose="020B0406020202030204" pitchFamily="34" charset="77"/>
              </a:defRPr>
            </a:lvl1pPr>
          </a:lstStyle>
          <a:p>
            <a:pPr lvl="0"/>
            <a:r>
              <a:rPr lang="en-US"/>
              <a:t>Year</a:t>
            </a:r>
          </a:p>
        </p:txBody>
      </p:sp>
    </p:spTree>
    <p:extLst>
      <p:ext uri="{BB962C8B-B14F-4D97-AF65-F5344CB8AC3E}">
        <p14:creationId xmlns:p14="http://schemas.microsoft.com/office/powerpoint/2010/main" val="1716005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1825625"/>
            <a:ext cx="10515600" cy="4351338"/>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43DB8BA-EA1F-7943-B37B-2BE9CABB2B2E}"/>
              </a:ext>
            </a:extLst>
          </p:cNvPr>
          <p:cNvPicPr>
            <a:picLocks noChangeAspect="1"/>
          </p:cNvPicPr>
          <p:nvPr/>
        </p:nvPicPr>
        <p:blipFill>
          <a:blip r:embed="rId3"/>
          <a:srcRect/>
          <a:stretch/>
        </p:blipFill>
        <p:spPr>
          <a:xfrm>
            <a:off x="10002076" y="434118"/>
            <a:ext cx="1416904" cy="396124"/>
          </a:xfrm>
          <a:prstGeom prst="rect">
            <a:avLst/>
          </a:prstGeom>
        </p:spPr>
      </p:pic>
      <p:sp>
        <p:nvSpPr>
          <p:cNvPr id="12" name="Slide Number Placeholder 5">
            <a:extLst>
              <a:ext uri="{FF2B5EF4-FFF2-40B4-BE49-F238E27FC236}">
                <a16:creationId xmlns:a16="http://schemas.microsoft.com/office/drawing/2014/main" id="{976FABBE-264B-1648-BA4D-1F273FAAF9A8}"/>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spTree>
    <p:extLst>
      <p:ext uri="{BB962C8B-B14F-4D97-AF65-F5344CB8AC3E}">
        <p14:creationId xmlns:p14="http://schemas.microsoft.com/office/powerpoint/2010/main" val="4381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1825625"/>
            <a:ext cx="10515600" cy="4351338"/>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43DB8BA-EA1F-7943-B37B-2BE9CABB2B2E}"/>
              </a:ext>
            </a:extLst>
          </p:cNvPr>
          <p:cNvPicPr>
            <a:picLocks noChangeAspect="1"/>
          </p:cNvPicPr>
          <p:nvPr/>
        </p:nvPicPr>
        <p:blipFill>
          <a:blip r:embed="rId3"/>
          <a:srcRect/>
          <a:stretch/>
        </p:blipFill>
        <p:spPr>
          <a:xfrm>
            <a:off x="10002076" y="434118"/>
            <a:ext cx="1416904" cy="396124"/>
          </a:xfrm>
          <a:prstGeom prst="rect">
            <a:avLst/>
          </a:prstGeom>
        </p:spPr>
      </p:pic>
      <p:sp>
        <p:nvSpPr>
          <p:cNvPr id="12" name="Slide Number Placeholder 5">
            <a:extLst>
              <a:ext uri="{FF2B5EF4-FFF2-40B4-BE49-F238E27FC236}">
                <a16:creationId xmlns:a16="http://schemas.microsoft.com/office/drawing/2014/main" id="{976FABBE-264B-1648-BA4D-1F273FAAF9A8}"/>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spTree>
    <p:extLst>
      <p:ext uri="{BB962C8B-B14F-4D97-AF65-F5344CB8AC3E}">
        <p14:creationId xmlns:p14="http://schemas.microsoft.com/office/powerpoint/2010/main" val="3138384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1825625"/>
            <a:ext cx="10515600" cy="3959225"/>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353B8A2-44E4-DA47-8281-DF5CFA7909B0}"/>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pic>
        <p:nvPicPr>
          <p:cNvPr id="7" name="Picture 6">
            <a:extLst>
              <a:ext uri="{FF2B5EF4-FFF2-40B4-BE49-F238E27FC236}">
                <a16:creationId xmlns:a16="http://schemas.microsoft.com/office/drawing/2014/main" id="{875A2377-A262-B04D-9F40-CF6DCB42CACB}"/>
              </a:ext>
            </a:extLst>
          </p:cNvPr>
          <p:cNvPicPr>
            <a:picLocks noChangeAspect="1"/>
          </p:cNvPicPr>
          <p:nvPr/>
        </p:nvPicPr>
        <p:blipFill>
          <a:blip r:embed="rId3"/>
          <a:srcRect/>
          <a:stretch/>
        </p:blipFill>
        <p:spPr>
          <a:xfrm>
            <a:off x="10002076" y="434118"/>
            <a:ext cx="1416904" cy="396124"/>
          </a:xfrm>
          <a:prstGeom prst="rect">
            <a:avLst/>
          </a:prstGeom>
        </p:spPr>
      </p:pic>
    </p:spTree>
    <p:extLst>
      <p:ext uri="{BB962C8B-B14F-4D97-AF65-F5344CB8AC3E}">
        <p14:creationId xmlns:p14="http://schemas.microsoft.com/office/powerpoint/2010/main" val="139299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4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1825625"/>
            <a:ext cx="10515600" cy="4351338"/>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a:extLst>
              <a:ext uri="{FF2B5EF4-FFF2-40B4-BE49-F238E27FC236}">
                <a16:creationId xmlns:a16="http://schemas.microsoft.com/office/drawing/2014/main" id="{976FABBE-264B-1648-BA4D-1F273FAAF9A8}"/>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pic>
        <p:nvPicPr>
          <p:cNvPr id="7" name="Picture 6" descr="Icon&#10;&#10;Description automatically generated">
            <a:extLst>
              <a:ext uri="{FF2B5EF4-FFF2-40B4-BE49-F238E27FC236}">
                <a16:creationId xmlns:a16="http://schemas.microsoft.com/office/drawing/2014/main" id="{21AB7A25-9BB7-014D-86E4-DC8069B23761}"/>
              </a:ext>
            </a:extLst>
          </p:cNvPr>
          <p:cNvPicPr>
            <a:picLocks noChangeAspect="1"/>
          </p:cNvPicPr>
          <p:nvPr/>
        </p:nvPicPr>
        <p:blipFill>
          <a:blip r:embed="rId3"/>
          <a:stretch>
            <a:fillRect/>
          </a:stretch>
        </p:blipFill>
        <p:spPr>
          <a:xfrm>
            <a:off x="8654906" y="367014"/>
            <a:ext cx="2717851" cy="396124"/>
          </a:xfrm>
          <a:prstGeom prst="rect">
            <a:avLst/>
          </a:prstGeom>
        </p:spPr>
      </p:pic>
    </p:spTree>
    <p:extLst>
      <p:ext uri="{BB962C8B-B14F-4D97-AF65-F5344CB8AC3E}">
        <p14:creationId xmlns:p14="http://schemas.microsoft.com/office/powerpoint/2010/main" val="3150354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6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2177894"/>
            <a:ext cx="10515600" cy="3959225"/>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353B8A2-44E4-DA47-8281-DF5CFA7909B0}"/>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sp>
        <p:nvSpPr>
          <p:cNvPr id="4" name="Rectangle 3">
            <a:extLst>
              <a:ext uri="{FF2B5EF4-FFF2-40B4-BE49-F238E27FC236}">
                <a16:creationId xmlns:a16="http://schemas.microsoft.com/office/drawing/2014/main" id="{0329DE59-8176-EB43-9A22-11BF0BE771E1}"/>
              </a:ext>
            </a:extLst>
          </p:cNvPr>
          <p:cNvSpPr/>
          <p:nvPr/>
        </p:nvSpPr>
        <p:spPr>
          <a:xfrm>
            <a:off x="0" y="1073150"/>
            <a:ext cx="653321" cy="245985"/>
          </a:xfrm>
          <a:prstGeom prst="rect">
            <a:avLst/>
          </a:prstGeom>
          <a:solidFill>
            <a:srgbClr val="479EBC"/>
          </a:solidFill>
          <a:ln>
            <a:solidFill>
              <a:srgbClr val="47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BA6D2A7-5ABA-7747-A467-D2FFA00294F1}"/>
              </a:ext>
            </a:extLst>
          </p:cNvPr>
          <p:cNvPicPr>
            <a:picLocks noChangeAspect="1"/>
          </p:cNvPicPr>
          <p:nvPr/>
        </p:nvPicPr>
        <p:blipFill>
          <a:blip r:embed="rId2"/>
          <a:srcRect/>
          <a:stretch/>
        </p:blipFill>
        <p:spPr>
          <a:xfrm>
            <a:off x="10002076" y="434118"/>
            <a:ext cx="1416904" cy="396124"/>
          </a:xfrm>
          <a:prstGeom prst="rect">
            <a:avLst/>
          </a:prstGeom>
        </p:spPr>
      </p:pic>
    </p:spTree>
    <p:extLst>
      <p:ext uri="{BB962C8B-B14F-4D97-AF65-F5344CB8AC3E}">
        <p14:creationId xmlns:p14="http://schemas.microsoft.com/office/powerpoint/2010/main" val="3543565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8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2177894"/>
            <a:ext cx="10515600" cy="3959225"/>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353B8A2-44E4-DA47-8281-DF5CFA7909B0}"/>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sp>
        <p:nvSpPr>
          <p:cNvPr id="4" name="Rectangle 3">
            <a:extLst>
              <a:ext uri="{FF2B5EF4-FFF2-40B4-BE49-F238E27FC236}">
                <a16:creationId xmlns:a16="http://schemas.microsoft.com/office/drawing/2014/main" id="{0329DE59-8176-EB43-9A22-11BF0BE771E1}"/>
              </a:ext>
            </a:extLst>
          </p:cNvPr>
          <p:cNvSpPr/>
          <p:nvPr/>
        </p:nvSpPr>
        <p:spPr>
          <a:xfrm>
            <a:off x="0" y="1073150"/>
            <a:ext cx="653321" cy="245985"/>
          </a:xfrm>
          <a:prstGeom prst="rect">
            <a:avLst/>
          </a:prstGeom>
          <a:solidFill>
            <a:srgbClr val="479EBC"/>
          </a:solidFill>
          <a:ln>
            <a:solidFill>
              <a:srgbClr val="47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C438C20-4727-3E46-90F6-19DC9C1EE0EB}"/>
              </a:ext>
            </a:extLst>
          </p:cNvPr>
          <p:cNvPicPr>
            <a:picLocks noChangeAspect="1"/>
          </p:cNvPicPr>
          <p:nvPr/>
        </p:nvPicPr>
        <p:blipFill>
          <a:blip r:embed="rId3"/>
          <a:srcRect/>
          <a:stretch/>
        </p:blipFill>
        <p:spPr>
          <a:xfrm>
            <a:off x="10002076" y="434118"/>
            <a:ext cx="1416904" cy="396124"/>
          </a:xfrm>
          <a:prstGeom prst="rect">
            <a:avLst/>
          </a:prstGeom>
        </p:spPr>
      </p:pic>
    </p:spTree>
    <p:extLst>
      <p:ext uri="{BB962C8B-B14F-4D97-AF65-F5344CB8AC3E}">
        <p14:creationId xmlns:p14="http://schemas.microsoft.com/office/powerpoint/2010/main" val="2378135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ACF0-372B-9346-AE9B-A18F3974793F}"/>
              </a:ext>
            </a:extLst>
          </p:cNvPr>
          <p:cNvSpPr>
            <a:spLocks noGrp="1"/>
          </p:cNvSpPr>
          <p:nvPr>
            <p:ph type="title" hasCustomPrompt="1"/>
          </p:nvPr>
        </p:nvSpPr>
        <p:spPr>
          <a:xfrm>
            <a:off x="838200" y="1073150"/>
            <a:ext cx="10515600" cy="662782"/>
          </a:xfrm>
          <a:prstGeom prst="rect">
            <a:avLst/>
          </a:prstGeom>
        </p:spPr>
        <p:txBody>
          <a:bodyPr/>
          <a:lstStyle>
            <a:lvl1pPr>
              <a:defRPr b="0" i="0">
                <a:solidFill>
                  <a:srgbClr val="154474"/>
                </a:solidFill>
                <a:latin typeface="HelveticaNeueLT Pro 47 LtCn" panose="020B0406020202030204" pitchFamily="34" charset="77"/>
              </a:defRPr>
            </a:lvl1pPr>
          </a:lstStyle>
          <a:p>
            <a:r>
              <a:rPr lang="en-US"/>
              <a:t>Title Goes Here</a:t>
            </a:r>
          </a:p>
        </p:txBody>
      </p:sp>
      <p:sp>
        <p:nvSpPr>
          <p:cNvPr id="3" name="Content Placeholder 2">
            <a:extLst>
              <a:ext uri="{FF2B5EF4-FFF2-40B4-BE49-F238E27FC236}">
                <a16:creationId xmlns:a16="http://schemas.microsoft.com/office/drawing/2014/main" id="{8D56B7C3-8AC7-0847-A986-01546C8729EF}"/>
              </a:ext>
            </a:extLst>
          </p:cNvPr>
          <p:cNvSpPr>
            <a:spLocks noGrp="1"/>
          </p:cNvSpPr>
          <p:nvPr>
            <p:ph idx="1"/>
          </p:nvPr>
        </p:nvSpPr>
        <p:spPr>
          <a:xfrm>
            <a:off x="838200" y="2177894"/>
            <a:ext cx="10515600" cy="3959225"/>
          </a:xfrm>
          <a:prstGeom prst="rect">
            <a:avLst/>
          </a:prstGeom>
        </p:spPr>
        <p:txBody>
          <a:bodyPr/>
          <a:lstStyle>
            <a:lvl1pPr>
              <a:defRPr sz="1600">
                <a:solidFill>
                  <a:srgbClr val="000000"/>
                </a:solidFill>
                <a:latin typeface="Minion Pro Capt" panose="02040503050306020203" pitchFamily="18" charset="0"/>
              </a:defRPr>
            </a:lvl1pPr>
            <a:lvl2pPr>
              <a:defRPr sz="1400">
                <a:solidFill>
                  <a:srgbClr val="000000"/>
                </a:solidFill>
                <a:latin typeface="Minion Pro Capt" panose="02040503050306020203" pitchFamily="18" charset="0"/>
              </a:defRPr>
            </a:lvl2pPr>
            <a:lvl3pPr>
              <a:defRPr sz="1200">
                <a:solidFill>
                  <a:srgbClr val="000000"/>
                </a:solidFill>
                <a:latin typeface="Minion Pro Capt" panose="02040503050306020203" pitchFamily="18" charset="0"/>
              </a:defRPr>
            </a:lvl3pPr>
            <a:lvl4pPr>
              <a:defRPr sz="1100">
                <a:solidFill>
                  <a:srgbClr val="000000"/>
                </a:solidFill>
                <a:latin typeface="Minion Pro Capt" panose="02040503050306020203" pitchFamily="18" charset="0"/>
              </a:defRPr>
            </a:lvl4pPr>
            <a:lvl5pPr>
              <a:defRPr sz="1100">
                <a:solidFill>
                  <a:srgbClr val="000000"/>
                </a:solidFill>
                <a:latin typeface="Minion Pro Capt" panose="020405030503060202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353B8A2-44E4-DA47-8281-DF5CFA7909B0}"/>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sp>
        <p:nvSpPr>
          <p:cNvPr id="4" name="Rectangle 3">
            <a:extLst>
              <a:ext uri="{FF2B5EF4-FFF2-40B4-BE49-F238E27FC236}">
                <a16:creationId xmlns:a16="http://schemas.microsoft.com/office/drawing/2014/main" id="{0329DE59-8176-EB43-9A22-11BF0BE771E1}"/>
              </a:ext>
            </a:extLst>
          </p:cNvPr>
          <p:cNvSpPr/>
          <p:nvPr/>
        </p:nvSpPr>
        <p:spPr>
          <a:xfrm>
            <a:off x="0" y="1073150"/>
            <a:ext cx="653321" cy="245985"/>
          </a:xfrm>
          <a:prstGeom prst="rect">
            <a:avLst/>
          </a:prstGeom>
          <a:solidFill>
            <a:srgbClr val="479EBC"/>
          </a:solidFill>
          <a:ln>
            <a:solidFill>
              <a:srgbClr val="47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Icon&#10;&#10;Description automatically generated">
            <a:extLst>
              <a:ext uri="{FF2B5EF4-FFF2-40B4-BE49-F238E27FC236}">
                <a16:creationId xmlns:a16="http://schemas.microsoft.com/office/drawing/2014/main" id="{5B1B1BB3-6548-BE44-A546-3DC53324942F}"/>
              </a:ext>
            </a:extLst>
          </p:cNvPr>
          <p:cNvPicPr>
            <a:picLocks noChangeAspect="1"/>
          </p:cNvPicPr>
          <p:nvPr/>
        </p:nvPicPr>
        <p:blipFill>
          <a:blip r:embed="rId2"/>
          <a:stretch>
            <a:fillRect/>
          </a:stretch>
        </p:blipFill>
        <p:spPr>
          <a:xfrm>
            <a:off x="8654906" y="367014"/>
            <a:ext cx="2717851" cy="396124"/>
          </a:xfrm>
          <a:prstGeom prst="rect">
            <a:avLst/>
          </a:prstGeom>
        </p:spPr>
      </p:pic>
    </p:spTree>
    <p:extLst>
      <p:ext uri="{BB962C8B-B14F-4D97-AF65-F5344CB8AC3E}">
        <p14:creationId xmlns:p14="http://schemas.microsoft.com/office/powerpoint/2010/main" val="2914751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F0FA9-5D8E-36C2-5D33-43DABE971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6430AE-0547-D737-2D11-496C67CE97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75E7BA-1D6B-959C-5E78-08BF8E970F3A}"/>
              </a:ext>
            </a:extLst>
          </p:cNvPr>
          <p:cNvSpPr>
            <a:spLocks noGrp="1"/>
          </p:cNvSpPr>
          <p:nvPr>
            <p:ph type="dt" sz="half" idx="10"/>
          </p:nvPr>
        </p:nvSpPr>
        <p:spPr/>
        <p:txBody>
          <a:bodyPr/>
          <a:lstStyle/>
          <a:p>
            <a:fld id="{00E33EA7-6AEB-4DA4-A898-4234270C0592}" type="datetimeFigureOut">
              <a:rPr lang="en-US" smtClean="0"/>
              <a:t>3/19/2026</a:t>
            </a:fld>
            <a:endParaRPr lang="en-US"/>
          </a:p>
        </p:txBody>
      </p:sp>
      <p:sp>
        <p:nvSpPr>
          <p:cNvPr id="5" name="Footer Placeholder 4">
            <a:extLst>
              <a:ext uri="{FF2B5EF4-FFF2-40B4-BE49-F238E27FC236}">
                <a16:creationId xmlns:a16="http://schemas.microsoft.com/office/drawing/2014/main" id="{C22C4A17-DE6D-CE5B-E109-50E6AA257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49FFF7-8198-F7F1-EF06-CAF19A9E11AE}"/>
              </a:ext>
            </a:extLst>
          </p:cNvPr>
          <p:cNvSpPr>
            <a:spLocks noGrp="1"/>
          </p:cNvSpPr>
          <p:nvPr>
            <p:ph type="sldNum" sz="quarter" idx="12"/>
          </p:nvPr>
        </p:nvSpPr>
        <p:spPr/>
        <p:txBody>
          <a:bodyPr/>
          <a:lstStyle/>
          <a:p>
            <a:fld id="{2B250CED-AD84-42B2-946F-22BCD6BF4693}" type="slidenum">
              <a:rPr lang="en-US" smtClean="0"/>
              <a:t>‹#›</a:t>
            </a:fld>
            <a:endParaRPr lang="en-US"/>
          </a:p>
        </p:txBody>
      </p:sp>
    </p:spTree>
    <p:extLst>
      <p:ext uri="{BB962C8B-B14F-4D97-AF65-F5344CB8AC3E}">
        <p14:creationId xmlns:p14="http://schemas.microsoft.com/office/powerpoint/2010/main" val="4070561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SF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1D41-395B-13CB-28E1-B5533836607B}"/>
              </a:ext>
            </a:extLst>
          </p:cNvPr>
          <p:cNvSpPr>
            <a:spLocks noGrp="1"/>
          </p:cNvSpPr>
          <p:nvPr>
            <p:ph type="title" hasCustomPrompt="1"/>
          </p:nvPr>
        </p:nvSpPr>
        <p:spPr>
          <a:xfrm>
            <a:off x="838200" y="803275"/>
            <a:ext cx="10515600" cy="566866"/>
          </a:xfrm>
          <a:prstGeom prst="rect">
            <a:avLst/>
          </a:prstGeom>
        </p:spPr>
        <p:txBody>
          <a:bodyPr/>
          <a:lstStyle>
            <a:lvl1pPr>
              <a:defRPr sz="2800" b="1">
                <a:latin typeface="HelveticaNeueLT Pro 47 LtCn" panose="020B0406020202030204"/>
              </a:defRPr>
            </a:lvl1pPr>
          </a:lstStyle>
          <a:p>
            <a:r>
              <a:rPr lang="en-US"/>
              <a:t>Critical Success Factors (Include Year and Team/BU name)</a:t>
            </a:r>
          </a:p>
        </p:txBody>
      </p:sp>
      <p:sp>
        <p:nvSpPr>
          <p:cNvPr id="3" name="Slide Number Placeholder 2">
            <a:extLst>
              <a:ext uri="{FF2B5EF4-FFF2-40B4-BE49-F238E27FC236}">
                <a16:creationId xmlns:a16="http://schemas.microsoft.com/office/drawing/2014/main" id="{D2A21723-250A-0B6C-B54C-F6F8430B0F4F}"/>
              </a:ext>
            </a:extLst>
          </p:cNvPr>
          <p:cNvSpPr>
            <a:spLocks noGrp="1"/>
          </p:cNvSpPr>
          <p:nvPr>
            <p:ph type="sldNum" sz="quarter" idx="10"/>
          </p:nvPr>
        </p:nvSpPr>
        <p:spPr/>
        <p:txBody>
          <a:bodyPr/>
          <a:lstStyle/>
          <a:p>
            <a:fld id="{2B250CED-AD84-42B2-946F-22BCD6BF4693}" type="slidenum">
              <a:rPr lang="en-US" smtClean="0"/>
              <a:t>‹#›</a:t>
            </a:fld>
            <a:endParaRPr lang="en-US"/>
          </a:p>
        </p:txBody>
      </p:sp>
      <p:sp>
        <p:nvSpPr>
          <p:cNvPr id="4" name="Rectangle 3">
            <a:extLst>
              <a:ext uri="{FF2B5EF4-FFF2-40B4-BE49-F238E27FC236}">
                <a16:creationId xmlns:a16="http://schemas.microsoft.com/office/drawing/2014/main" id="{C2E3097A-0F60-5A0C-1276-AC0E7072027D}"/>
              </a:ext>
            </a:extLst>
          </p:cNvPr>
          <p:cNvSpPr/>
          <p:nvPr/>
        </p:nvSpPr>
        <p:spPr>
          <a:xfrm>
            <a:off x="0" y="1073150"/>
            <a:ext cx="653321" cy="245985"/>
          </a:xfrm>
          <a:prstGeom prst="rect">
            <a:avLst/>
          </a:prstGeom>
          <a:solidFill>
            <a:srgbClr val="479EBC"/>
          </a:solidFill>
          <a:ln>
            <a:solidFill>
              <a:srgbClr val="479E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con&#10;&#10;Description automatically generated">
            <a:extLst>
              <a:ext uri="{FF2B5EF4-FFF2-40B4-BE49-F238E27FC236}">
                <a16:creationId xmlns:a16="http://schemas.microsoft.com/office/drawing/2014/main" id="{C61C1AFA-39B9-2B46-5DF1-3C575657D9B4}"/>
              </a:ext>
            </a:extLst>
          </p:cNvPr>
          <p:cNvPicPr>
            <a:picLocks noChangeAspect="1"/>
          </p:cNvPicPr>
          <p:nvPr/>
        </p:nvPicPr>
        <p:blipFill>
          <a:blip r:embed="rId2"/>
          <a:stretch>
            <a:fillRect/>
          </a:stretch>
        </p:blipFill>
        <p:spPr>
          <a:xfrm>
            <a:off x="8654906" y="367014"/>
            <a:ext cx="2717851" cy="396124"/>
          </a:xfrm>
          <a:prstGeom prst="rect">
            <a:avLst/>
          </a:prstGeom>
        </p:spPr>
      </p:pic>
      <p:sp>
        <p:nvSpPr>
          <p:cNvPr id="7" name="Text Placeholder 6">
            <a:extLst>
              <a:ext uri="{FF2B5EF4-FFF2-40B4-BE49-F238E27FC236}">
                <a16:creationId xmlns:a16="http://schemas.microsoft.com/office/drawing/2014/main" id="{AC76D469-C78F-ED1D-0DE3-2D864B31FED3}"/>
              </a:ext>
            </a:extLst>
          </p:cNvPr>
          <p:cNvSpPr>
            <a:spLocks noGrp="1"/>
          </p:cNvSpPr>
          <p:nvPr>
            <p:ph type="body" sz="quarter" idx="11" hasCustomPrompt="1"/>
          </p:nvPr>
        </p:nvSpPr>
        <p:spPr>
          <a:xfrm>
            <a:off x="838200" y="1557338"/>
            <a:ext cx="10534650" cy="4497387"/>
          </a:xfrm>
          <a:prstGeom prst="rect">
            <a:avLst/>
          </a:prstGeom>
        </p:spPr>
        <p:txBody>
          <a:bodyPr/>
          <a:lstStyle>
            <a:lvl1pPr>
              <a:lnSpc>
                <a:spcPct val="100000"/>
              </a:lnSpc>
              <a:spcAft>
                <a:spcPts val="1200"/>
              </a:spcAft>
              <a:defRPr sz="2400"/>
            </a:lvl1pPr>
            <a:lvl2pPr>
              <a:lnSpc>
                <a:spcPct val="100000"/>
              </a:lnSpc>
              <a:spcAft>
                <a:spcPts val="1200"/>
              </a:spcAft>
              <a:defRPr sz="2000"/>
            </a:lvl2pPr>
          </a:lstStyle>
          <a:p>
            <a:pPr lvl="0"/>
            <a:r>
              <a:rPr lang="en-US"/>
              <a:t>Typically defined at Company, Business Unit, or Business Unit Manager led Department level; Provide overarching strategic direction for a longer period of time (usually 1 year or more)</a:t>
            </a:r>
          </a:p>
          <a:p>
            <a:pPr lvl="1"/>
            <a:r>
              <a:rPr lang="en-US"/>
              <a:t>Optional SMART Goal: Indicates progress towards accomplishing CSFs</a:t>
            </a:r>
          </a:p>
        </p:txBody>
      </p:sp>
    </p:spTree>
    <p:extLst>
      <p:ext uri="{BB962C8B-B14F-4D97-AF65-F5344CB8AC3E}">
        <p14:creationId xmlns:p14="http://schemas.microsoft.com/office/powerpoint/2010/main" val="1590034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890FBA7A-45EF-514F-955F-A6F68A239644}"/>
              </a:ext>
            </a:extLst>
          </p:cNvPr>
          <p:cNvSpPr>
            <a:spLocks noGrp="1"/>
          </p:cNvSpPr>
          <p:nvPr>
            <p:ph type="sldNum" sz="quarter" idx="4"/>
          </p:nvPr>
        </p:nvSpPr>
        <p:spPr>
          <a:xfrm>
            <a:off x="10905343" y="6400864"/>
            <a:ext cx="821551" cy="365125"/>
          </a:xfrm>
          <a:prstGeom prst="rect">
            <a:avLst/>
          </a:prstGeom>
        </p:spPr>
        <p:txBody>
          <a:bodyPr vert="horz" lIns="91440" tIns="45720" rIns="91440" bIns="45720" rtlCol="0" anchor="ctr"/>
          <a:lstStyle>
            <a:lvl1pPr algn="r">
              <a:defRPr sz="900" b="1" i="0">
                <a:solidFill>
                  <a:srgbClr val="154474"/>
                </a:solidFill>
                <a:latin typeface="HelveticaNeueLT Pro 55 Roman" panose="020B0604020202020204" pitchFamily="34" charset="77"/>
              </a:defRPr>
            </a:lvl1pPr>
          </a:lstStyle>
          <a:p>
            <a:fld id="{2B250CED-AD84-42B2-946F-22BCD6BF4693}" type="slidenum">
              <a:rPr lang="en-US" smtClean="0"/>
              <a:t>‹#›</a:t>
            </a:fld>
            <a:endParaRPr lang="en-US"/>
          </a:p>
        </p:txBody>
      </p:sp>
    </p:spTree>
    <p:extLst>
      <p:ext uri="{BB962C8B-B14F-4D97-AF65-F5344CB8AC3E}">
        <p14:creationId xmlns:p14="http://schemas.microsoft.com/office/powerpoint/2010/main" val="1329437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hyperlink" Target="https://api.credly.com/v1/organizations/c694a76a-62a5-4e95-b76f-d31f345288c6/badges" TargetMode="Externa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913934-A9C0-40C3-17C4-468F122CA768}"/>
              </a:ext>
            </a:extLst>
          </p:cNvPr>
          <p:cNvSpPr>
            <a:spLocks noGrp="1"/>
          </p:cNvSpPr>
          <p:nvPr>
            <p:ph type="title"/>
          </p:nvPr>
        </p:nvSpPr>
        <p:spPr>
          <a:xfrm>
            <a:off x="723900" y="615950"/>
            <a:ext cx="10515600" cy="662782"/>
          </a:xfrm>
        </p:spPr>
        <p:txBody>
          <a:bodyPr>
            <a:normAutofit/>
          </a:bodyPr>
          <a:lstStyle/>
          <a:p>
            <a:r>
              <a:rPr lang="en-US" sz="1800" dirty="0" err="1"/>
              <a:t>Credly_Docebo_Badge_Integration</a:t>
            </a:r>
            <a:r>
              <a:rPr lang="en-US" sz="1800" dirty="0"/>
              <a:t> CFS Hygienic Design</a:t>
            </a:r>
          </a:p>
        </p:txBody>
      </p:sp>
      <p:sp>
        <p:nvSpPr>
          <p:cNvPr id="13" name="Content Placeholder 2">
            <a:extLst>
              <a:ext uri="{FF2B5EF4-FFF2-40B4-BE49-F238E27FC236}">
                <a16:creationId xmlns:a16="http://schemas.microsoft.com/office/drawing/2014/main" id="{7A105F17-195E-FD63-BB0A-867B33E8F2A7}"/>
              </a:ext>
            </a:extLst>
          </p:cNvPr>
          <p:cNvSpPr>
            <a:spLocks noGrp="1"/>
          </p:cNvSpPr>
          <p:nvPr>
            <p:ph idx="1"/>
          </p:nvPr>
        </p:nvSpPr>
        <p:spPr>
          <a:xfrm>
            <a:off x="838200" y="1433512"/>
            <a:ext cx="10515600" cy="4351338"/>
          </a:xfrm>
        </p:spPr>
        <p:txBody>
          <a:bodyPr/>
          <a:lstStyle/>
          <a:p>
            <a:pPr marL="0" indent="0">
              <a:buNone/>
            </a:pPr>
            <a:r>
              <a:rPr lang="en-US" b="1" dirty="0"/>
              <a:t>Purpose</a:t>
            </a:r>
            <a:r>
              <a:rPr lang="en-US" dirty="0"/>
              <a:t>:  </a:t>
            </a:r>
          </a:p>
          <a:p>
            <a:pPr marL="0" indent="0">
              <a:buNone/>
            </a:pPr>
            <a:r>
              <a:rPr lang="en-US" dirty="0"/>
              <a:t>Completion of an eligible course in Docebo automates the issuance of the CFS Hygienic Design badge from </a:t>
            </a:r>
            <a:r>
              <a:rPr lang="en-US" dirty="0" err="1"/>
              <a:t>Credly</a:t>
            </a:r>
            <a:r>
              <a:rPr lang="en-US" dirty="0"/>
              <a:t>.  Eligible courses include </a:t>
            </a:r>
          </a:p>
          <a:p>
            <a:pPr lvl="1"/>
            <a:r>
              <a:rPr lang="en-US" dirty="0"/>
              <a:t>487 - Hygienic Design Certification Modules</a:t>
            </a:r>
          </a:p>
          <a:p>
            <a:pPr lvl="1"/>
            <a:r>
              <a:rPr lang="en-US" dirty="0"/>
              <a:t>468 - CFS Hygienic Design Certification Case Simulation v1</a:t>
            </a:r>
          </a:p>
          <a:p>
            <a:pPr lvl="1"/>
            <a:r>
              <a:rPr lang="en-US" dirty="0"/>
              <a:t>470 - Hygienic Design Certification Modules</a:t>
            </a:r>
          </a:p>
          <a:p>
            <a:pPr lvl="1"/>
            <a:r>
              <a:rPr lang="en-US" dirty="0"/>
              <a:t>431 - CFS Hygienic Design Certification Case Simulation</a:t>
            </a:r>
          </a:p>
          <a:p>
            <a:pPr lvl="1"/>
            <a:r>
              <a:rPr lang="en-US" dirty="0"/>
              <a:t>502 - Hygienic Design Certification Modules</a:t>
            </a:r>
          </a:p>
          <a:p>
            <a:endParaRPr lang="en-US" dirty="0"/>
          </a:p>
          <a:p>
            <a:endParaRPr lang="en-US" dirty="0"/>
          </a:p>
        </p:txBody>
      </p:sp>
    </p:spTree>
    <p:custDataLst>
      <p:tags r:id="rId1"/>
    </p:custDataLst>
    <p:extLst>
      <p:ext uri="{BB962C8B-B14F-4D97-AF65-F5344CB8AC3E}">
        <p14:creationId xmlns:p14="http://schemas.microsoft.com/office/powerpoint/2010/main" val="322373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2F1C8-B446-C5E0-ACD2-3538119140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789F6F7-6061-917B-9B56-A8F282616026}"/>
              </a:ext>
            </a:extLst>
          </p:cNvPr>
          <p:cNvSpPr>
            <a:spLocks noGrp="1"/>
          </p:cNvSpPr>
          <p:nvPr>
            <p:ph type="title"/>
          </p:nvPr>
        </p:nvSpPr>
        <p:spPr>
          <a:xfrm>
            <a:off x="723900" y="615950"/>
            <a:ext cx="10515600" cy="662782"/>
          </a:xfrm>
        </p:spPr>
        <p:txBody>
          <a:bodyPr>
            <a:normAutofit/>
          </a:bodyPr>
          <a:lstStyle/>
          <a:p>
            <a:r>
              <a:rPr lang="en-US" sz="1800" dirty="0" err="1"/>
              <a:t>Credly</a:t>
            </a:r>
            <a:r>
              <a:rPr lang="en-US" sz="1800" dirty="0"/>
              <a:t> – Docebo Power Automate Integration</a:t>
            </a:r>
          </a:p>
        </p:txBody>
      </p:sp>
      <p:sp>
        <p:nvSpPr>
          <p:cNvPr id="13" name="Content Placeholder 2">
            <a:extLst>
              <a:ext uri="{FF2B5EF4-FFF2-40B4-BE49-F238E27FC236}">
                <a16:creationId xmlns:a16="http://schemas.microsoft.com/office/drawing/2014/main" id="{ECB30F71-59C3-7D49-B9AD-B9339B06BFA5}"/>
              </a:ext>
            </a:extLst>
          </p:cNvPr>
          <p:cNvSpPr>
            <a:spLocks noGrp="1"/>
          </p:cNvSpPr>
          <p:nvPr>
            <p:ph idx="1"/>
          </p:nvPr>
        </p:nvSpPr>
        <p:spPr>
          <a:xfrm>
            <a:off x="838200" y="1433512"/>
            <a:ext cx="10515600" cy="4351338"/>
          </a:xfrm>
        </p:spPr>
        <p:txBody>
          <a:bodyPr/>
          <a:lstStyle/>
          <a:p>
            <a:pPr marL="0" indent="0">
              <a:buNone/>
            </a:pPr>
            <a:r>
              <a:rPr lang="en-US" b="1" dirty="0"/>
              <a:t>Requirements:</a:t>
            </a:r>
          </a:p>
          <a:p>
            <a:r>
              <a:rPr lang="en-US" dirty="0"/>
              <a:t>Access to Docebo and </a:t>
            </a:r>
            <a:r>
              <a:rPr lang="en-US" dirty="0" err="1"/>
              <a:t>Credly</a:t>
            </a:r>
            <a:endParaRPr lang="en-US" dirty="0"/>
          </a:p>
          <a:p>
            <a:r>
              <a:rPr lang="en-US" dirty="0"/>
              <a:t>List of courses for the Condition</a:t>
            </a:r>
          </a:p>
          <a:p>
            <a:r>
              <a:rPr lang="en-US" dirty="0"/>
              <a:t>An Active Webhook in Docebo ( </a:t>
            </a:r>
            <a:r>
              <a:rPr lang="en-US" dirty="0" err="1"/>
              <a:t>Wehook</a:t>
            </a:r>
            <a:r>
              <a:rPr lang="en-US" dirty="0"/>
              <a:t> Name</a:t>
            </a:r>
            <a:r>
              <a:rPr lang="en-US"/>
              <a:t>:  Automate)</a:t>
            </a:r>
            <a:endParaRPr lang="en-US" dirty="0"/>
          </a:p>
          <a:p>
            <a:r>
              <a:rPr lang="en-US" dirty="0"/>
              <a:t>Premium Power Automate License</a:t>
            </a:r>
          </a:p>
          <a:p>
            <a:pPr marL="0" indent="0">
              <a:buNone/>
            </a:pPr>
            <a:r>
              <a:rPr lang="en-US" b="1" dirty="0"/>
              <a:t>Notes:</a:t>
            </a:r>
          </a:p>
          <a:p>
            <a:pPr marL="0" indent="0">
              <a:buNone/>
            </a:pPr>
            <a:r>
              <a:rPr lang="en-US" dirty="0"/>
              <a:t>This process uses a Docebo webhook</a:t>
            </a:r>
          </a:p>
          <a:p>
            <a:pPr marL="0" indent="0">
              <a:buNone/>
            </a:pPr>
            <a:r>
              <a:rPr lang="en-US" dirty="0"/>
              <a:t>The Docebo Course list contains the course codes for all eligible Docebo courses.</a:t>
            </a:r>
          </a:p>
          <a:p>
            <a:pPr marL="0" indent="0">
              <a:buNone/>
            </a:pPr>
            <a:r>
              <a:rPr lang="en-US" dirty="0"/>
              <a:t>This flow is specific to one badge with badge id: c694a76a-62a5-4e95-b76f-d31f345288c6</a:t>
            </a:r>
          </a:p>
          <a:p>
            <a:pPr marL="0" indent="0">
              <a:buNone/>
            </a:pPr>
            <a:r>
              <a:rPr lang="en-US" dirty="0"/>
              <a:t>This flow can easily be duplicated with a switch to  include additional badges</a:t>
            </a:r>
          </a:p>
          <a:p>
            <a:endParaRPr lang="en-US" dirty="0"/>
          </a:p>
          <a:p>
            <a:endParaRPr lang="en-US" dirty="0"/>
          </a:p>
        </p:txBody>
      </p:sp>
    </p:spTree>
    <p:custDataLst>
      <p:tags r:id="rId1"/>
    </p:custDataLst>
    <p:extLst>
      <p:ext uri="{BB962C8B-B14F-4D97-AF65-F5344CB8AC3E}">
        <p14:creationId xmlns:p14="http://schemas.microsoft.com/office/powerpoint/2010/main" val="3072358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B91D-29EB-101C-8D73-5C3125512B09}"/>
              </a:ext>
            </a:extLst>
          </p:cNvPr>
          <p:cNvSpPr>
            <a:spLocks noGrp="1"/>
          </p:cNvSpPr>
          <p:nvPr>
            <p:ph type="title"/>
          </p:nvPr>
        </p:nvSpPr>
        <p:spPr>
          <a:xfrm>
            <a:off x="678402" y="349646"/>
            <a:ext cx="10515600" cy="662782"/>
          </a:xfrm>
        </p:spPr>
        <p:txBody>
          <a:bodyPr/>
          <a:lstStyle/>
          <a:p>
            <a:r>
              <a:rPr lang="en-US" dirty="0"/>
              <a:t>Flows:  Num of Flows 1</a:t>
            </a:r>
          </a:p>
        </p:txBody>
      </p:sp>
      <p:sp>
        <p:nvSpPr>
          <p:cNvPr id="3" name="Content Placeholder 2">
            <a:extLst>
              <a:ext uri="{FF2B5EF4-FFF2-40B4-BE49-F238E27FC236}">
                <a16:creationId xmlns:a16="http://schemas.microsoft.com/office/drawing/2014/main" id="{578AE11E-E44A-B078-9B50-C9CA14DFF449}"/>
              </a:ext>
            </a:extLst>
          </p:cNvPr>
          <p:cNvSpPr>
            <a:spLocks noGrp="1"/>
          </p:cNvSpPr>
          <p:nvPr>
            <p:ph idx="1"/>
          </p:nvPr>
        </p:nvSpPr>
        <p:spPr>
          <a:xfrm>
            <a:off x="838200" y="1180730"/>
            <a:ext cx="10515600" cy="4857107"/>
          </a:xfrm>
        </p:spPr>
        <p:txBody>
          <a:bodyPr/>
          <a:lstStyle/>
          <a:p>
            <a:r>
              <a:rPr lang="en-US" b="1" dirty="0" err="1"/>
              <a:t>Credly_Docebo_Badge_Integration</a:t>
            </a:r>
            <a:r>
              <a:rPr lang="en-US" b="1" dirty="0"/>
              <a:t> CFS </a:t>
            </a:r>
            <a:r>
              <a:rPr lang="en-US" b="1" dirty="0" err="1"/>
              <a:t>Hygenic</a:t>
            </a:r>
            <a:r>
              <a:rPr lang="en-US" b="1" dirty="0"/>
              <a:t> Design</a:t>
            </a:r>
          </a:p>
          <a:p>
            <a:pPr lvl="1"/>
            <a:r>
              <a:rPr lang="en-US" dirty="0"/>
              <a:t>The flow is triggered by </a:t>
            </a:r>
            <a:r>
              <a:rPr lang="en-US" b="1" dirty="0"/>
              <a:t>Docebo </a:t>
            </a:r>
            <a:r>
              <a:rPr lang="en-US" dirty="0"/>
              <a:t> whenever any course is completed; the flow will run.  The results are parsed to identify the course ID</a:t>
            </a:r>
          </a:p>
          <a:p>
            <a:pPr lvl="1"/>
            <a:r>
              <a:rPr lang="en-US" dirty="0"/>
              <a:t>A condition is used to run the remainder of the flow if the Course ID is equal to </a:t>
            </a:r>
          </a:p>
          <a:p>
            <a:pPr lvl="2"/>
            <a:r>
              <a:rPr lang="en-US" dirty="0"/>
              <a:t>487</a:t>
            </a:r>
          </a:p>
          <a:p>
            <a:pPr lvl="2"/>
            <a:r>
              <a:rPr lang="en-US" dirty="0"/>
              <a:t>468</a:t>
            </a:r>
          </a:p>
          <a:p>
            <a:pPr lvl="2"/>
            <a:r>
              <a:rPr lang="en-US" dirty="0"/>
              <a:t>470</a:t>
            </a:r>
          </a:p>
          <a:p>
            <a:pPr lvl="2"/>
            <a:r>
              <a:rPr lang="en-US" dirty="0"/>
              <a:t>431</a:t>
            </a:r>
          </a:p>
          <a:p>
            <a:pPr lvl="2"/>
            <a:r>
              <a:rPr lang="en-US" dirty="0"/>
              <a:t>502</a:t>
            </a:r>
          </a:p>
          <a:p>
            <a:pPr lvl="1"/>
            <a:r>
              <a:rPr lang="en-US" dirty="0"/>
              <a:t>If the condition is satisfied, to capture the username, an HTTP action runs to the Docebo endpoint: </a:t>
            </a:r>
          </a:p>
          <a:p>
            <a:pPr lvl="2"/>
            <a:r>
              <a:rPr lang="en-US" dirty="0"/>
              <a:t>https://intralox.docebosaas.com/manage/v1/user/{{user_id}}</a:t>
            </a:r>
          </a:p>
          <a:p>
            <a:pPr lvl="2"/>
            <a:r>
              <a:rPr lang="en-US" dirty="0"/>
              <a:t>The </a:t>
            </a:r>
            <a:r>
              <a:rPr lang="en-US" dirty="0" err="1"/>
              <a:t>user_id</a:t>
            </a:r>
            <a:r>
              <a:rPr lang="en-US" dirty="0"/>
              <a:t>, first name, and last name are captured from the trigger that is parsed</a:t>
            </a:r>
          </a:p>
          <a:p>
            <a:pPr lvl="1"/>
            <a:r>
              <a:rPr lang="en-US" dirty="0"/>
              <a:t>A condition checks if the result is empty</a:t>
            </a:r>
          </a:p>
          <a:p>
            <a:pPr lvl="2"/>
            <a:r>
              <a:rPr lang="en-US" dirty="0"/>
              <a:t>If no data is returned, the condition is true, and no actions are taken</a:t>
            </a:r>
          </a:p>
          <a:p>
            <a:pPr lvl="2"/>
            <a:r>
              <a:rPr lang="en-US" dirty="0"/>
              <a:t>If the condition is false, data is returned. An HTTP Post is made to </a:t>
            </a:r>
            <a:r>
              <a:rPr lang="en-US" dirty="0" err="1"/>
              <a:t>Credly</a:t>
            </a:r>
            <a:r>
              <a:rPr lang="en-US" dirty="0"/>
              <a:t> to create the badge</a:t>
            </a:r>
          </a:p>
          <a:p>
            <a:pPr lvl="3"/>
            <a:r>
              <a:rPr lang="en-US" dirty="0">
                <a:hlinkClick r:id="rId3"/>
              </a:rPr>
              <a:t>https://api.credly.com/v1/organizations/c694a76a-62a5-4e95-b76f-d31f345288c6/badges</a:t>
            </a:r>
            <a:endParaRPr lang="en-US" dirty="0"/>
          </a:p>
          <a:p>
            <a:pPr lvl="3"/>
            <a:r>
              <a:rPr lang="en-US" dirty="0"/>
              <a:t>The body for the post is captured from the HTTP request from the Docebo call that captured the user information</a:t>
            </a:r>
          </a:p>
          <a:p>
            <a:pPr lvl="2"/>
            <a:endParaRPr lang="en-US" dirty="0"/>
          </a:p>
          <a:p>
            <a:pPr lvl="1"/>
            <a:r>
              <a:rPr lang="en-US" dirty="0"/>
              <a:t>Two parallel send email actions are used.  The first,  if the HTTP action succeeds and a badge is created, an email is sent to Crystal that a new badge has been created.  If badge creation fails, for example, when the badge already exists.  An email is sent to the recipient notifying them that the badge failed or that the badge already exists. </a:t>
            </a:r>
          </a:p>
          <a:p>
            <a:pPr marL="457200" lvl="1" indent="0">
              <a:buNone/>
            </a:pPr>
            <a:endParaRPr lang="en-US" dirty="0"/>
          </a:p>
          <a:p>
            <a:pPr marL="457200" lvl="1" indent="0">
              <a:buNone/>
            </a:pPr>
            <a:endParaRPr lang="en-US" dirty="0"/>
          </a:p>
          <a:p>
            <a:endParaRPr lang="en-US" dirty="0"/>
          </a:p>
        </p:txBody>
      </p:sp>
    </p:spTree>
    <p:custDataLst>
      <p:tags r:id="rId1"/>
    </p:custDataLst>
    <p:extLst>
      <p:ext uri="{BB962C8B-B14F-4D97-AF65-F5344CB8AC3E}">
        <p14:creationId xmlns:p14="http://schemas.microsoft.com/office/powerpoint/2010/main" val="1951461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3D0DCC-1A4C-172E-CAB7-6884A21A4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10558-E190-51B1-FF7A-F2075FA2C788}"/>
              </a:ext>
            </a:extLst>
          </p:cNvPr>
          <p:cNvSpPr>
            <a:spLocks noGrp="1"/>
          </p:cNvSpPr>
          <p:nvPr>
            <p:ph type="title"/>
          </p:nvPr>
        </p:nvSpPr>
        <p:spPr>
          <a:xfrm>
            <a:off x="678402" y="349646"/>
            <a:ext cx="10515600" cy="662782"/>
          </a:xfrm>
        </p:spPr>
        <p:txBody>
          <a:bodyPr/>
          <a:lstStyle/>
          <a:p>
            <a:r>
              <a:rPr lang="en-US" dirty="0"/>
              <a:t>Flows: </a:t>
            </a:r>
            <a:r>
              <a:rPr lang="en-US" sz="2800" dirty="0">
                <a:solidFill>
                  <a:srgbClr val="FF0000"/>
                </a:solidFill>
              </a:rPr>
              <a:t>No Longer Used Num of Flows: 4</a:t>
            </a:r>
          </a:p>
        </p:txBody>
      </p:sp>
      <p:sp>
        <p:nvSpPr>
          <p:cNvPr id="3" name="Content Placeholder 2">
            <a:extLst>
              <a:ext uri="{FF2B5EF4-FFF2-40B4-BE49-F238E27FC236}">
                <a16:creationId xmlns:a16="http://schemas.microsoft.com/office/drawing/2014/main" id="{FD1E76AB-5BFD-7775-98BC-688A01683FA0}"/>
              </a:ext>
            </a:extLst>
          </p:cNvPr>
          <p:cNvSpPr>
            <a:spLocks noGrp="1"/>
          </p:cNvSpPr>
          <p:nvPr>
            <p:ph idx="1"/>
          </p:nvPr>
        </p:nvSpPr>
        <p:spPr>
          <a:xfrm>
            <a:off x="838200" y="1651246"/>
            <a:ext cx="10515600" cy="4857107"/>
          </a:xfrm>
        </p:spPr>
        <p:txBody>
          <a:bodyPr/>
          <a:lstStyle/>
          <a:p>
            <a:r>
              <a:rPr lang="en-US" dirty="0" err="1"/>
              <a:t>CFS_Docebo_Credly_CFS</a:t>
            </a:r>
            <a:r>
              <a:rPr lang="en-US" dirty="0"/>
              <a:t> </a:t>
            </a:r>
            <a:r>
              <a:rPr lang="en-US" dirty="0" err="1"/>
              <a:t>Hygenic</a:t>
            </a:r>
            <a:r>
              <a:rPr lang="en-US" dirty="0"/>
              <a:t> Design Certification</a:t>
            </a:r>
          </a:p>
          <a:p>
            <a:pPr marL="457200" lvl="1" indent="0">
              <a:buNone/>
            </a:pPr>
            <a:r>
              <a:rPr lang="en-US" dirty="0"/>
              <a:t>A scheduled flow occurs every hour at the top of the hour.  Uses a DAX query to retrieve email addresses from </a:t>
            </a:r>
            <a:r>
              <a:rPr lang="en-US" dirty="0" err="1"/>
              <a:t>Credly_badges_issued</a:t>
            </a:r>
            <a:r>
              <a:rPr lang="en-US" dirty="0"/>
              <a:t>. The content of an Excel Sheet </a:t>
            </a:r>
            <a:r>
              <a:rPr lang="en-US" dirty="0" err="1"/>
              <a:t>DoceboCourseList</a:t>
            </a:r>
            <a:r>
              <a:rPr lang="en-US" dirty="0"/>
              <a:t> is retrieved.  An HTTP call retrieves courses from Docebo based on the Excel sheet.  A condition checks whether each person already has a badge.  If they don’t, a new badge is issued.</a:t>
            </a:r>
          </a:p>
          <a:p>
            <a:r>
              <a:rPr lang="en-US" dirty="0" err="1"/>
              <a:t>Credly</a:t>
            </a:r>
            <a:r>
              <a:rPr lang="en-US" dirty="0"/>
              <a:t> List Dataflow</a:t>
            </a:r>
          </a:p>
          <a:p>
            <a:pPr marL="457200" lvl="1" indent="0">
              <a:buNone/>
            </a:pPr>
            <a:r>
              <a:rPr lang="en-US" dirty="0"/>
              <a:t>Scheduled flow runs every 20 minutes, beginning at the top of the hour.  Uses an HTTP action to retrieve a paginated list of people who received the </a:t>
            </a:r>
            <a:r>
              <a:rPr lang="en-US" dirty="0" err="1"/>
              <a:t>Credly</a:t>
            </a:r>
            <a:r>
              <a:rPr lang="en-US" dirty="0"/>
              <a:t> Badge </a:t>
            </a:r>
            <a:r>
              <a:rPr lang="en-US" b="1" dirty="0"/>
              <a:t>CFS Hygienic Design Certification. </a:t>
            </a:r>
            <a:r>
              <a:rPr lang="en-US" dirty="0"/>
              <a:t>A successful flow will create a JSON file titled </a:t>
            </a:r>
            <a:r>
              <a:rPr lang="en-US" dirty="0" err="1"/>
              <a:t>Credly_badges_issued.json</a:t>
            </a:r>
            <a:r>
              <a:rPr lang="en-US" dirty="0"/>
              <a:t>. The file is stored in the </a:t>
            </a:r>
            <a:r>
              <a:rPr lang="en-US" dirty="0" err="1"/>
              <a:t>ILOXData</a:t>
            </a:r>
            <a:r>
              <a:rPr lang="en-US" dirty="0"/>
              <a:t>/</a:t>
            </a:r>
            <a:r>
              <a:rPr lang="en-US" dirty="0" err="1"/>
              <a:t>cvent</a:t>
            </a:r>
            <a:r>
              <a:rPr lang="en-US" dirty="0"/>
              <a:t> OneDrive directory. The file is part of the Power BI Data flow </a:t>
            </a:r>
            <a:r>
              <a:rPr lang="en-US" dirty="0" err="1"/>
              <a:t>Credly_List</a:t>
            </a:r>
            <a:endParaRPr lang="en-US" dirty="0"/>
          </a:p>
          <a:p>
            <a:r>
              <a:rPr lang="en-US" dirty="0" err="1"/>
              <a:t>CredlyList</a:t>
            </a:r>
            <a:r>
              <a:rPr lang="en-US" dirty="0"/>
              <a:t> Data Flow Refresh</a:t>
            </a:r>
          </a:p>
          <a:p>
            <a:pPr marL="457200" lvl="1" indent="0">
              <a:buNone/>
            </a:pPr>
            <a:r>
              <a:rPr lang="en-US" dirty="0"/>
              <a:t>Scheduled flow occurs every 30 minutes at the top of the hour.  Refresh the </a:t>
            </a:r>
            <a:r>
              <a:rPr lang="en-US" dirty="0" err="1"/>
              <a:t>Credly_List</a:t>
            </a:r>
            <a:r>
              <a:rPr lang="en-US" dirty="0"/>
              <a:t> Data flow</a:t>
            </a:r>
          </a:p>
          <a:p>
            <a:r>
              <a:rPr lang="en-US" dirty="0" err="1"/>
              <a:t>Credly</a:t>
            </a:r>
            <a:r>
              <a:rPr lang="en-US" dirty="0"/>
              <a:t> Badges Issued Daily</a:t>
            </a:r>
          </a:p>
          <a:p>
            <a:pPr marL="457200" lvl="1" indent="0">
              <a:buNone/>
            </a:pPr>
            <a:r>
              <a:rPr lang="en-US" dirty="0"/>
              <a:t>A scheduled flow that occurs once daily. Makes an HTTP call to retrieve all badges issued on the current day.  Sends a list of badges to the CFS Representative.  This separate flow is used to minimize the notices received when badges are issued.</a:t>
            </a:r>
          </a:p>
          <a:p>
            <a:pPr marL="457200" lvl="1" indent="0">
              <a:buNone/>
            </a:pPr>
            <a:endParaRPr lang="en-US" dirty="0"/>
          </a:p>
          <a:p>
            <a:pPr marL="457200" lvl="1" indent="0">
              <a:buNone/>
            </a:pPr>
            <a:endParaRPr lang="en-US" dirty="0"/>
          </a:p>
          <a:p>
            <a:endParaRPr lang="en-US" dirty="0"/>
          </a:p>
        </p:txBody>
      </p:sp>
    </p:spTree>
    <p:custDataLst>
      <p:tags r:id="rId1"/>
    </p:custDataLst>
    <p:extLst>
      <p:ext uri="{BB962C8B-B14F-4D97-AF65-F5344CB8AC3E}">
        <p14:creationId xmlns:p14="http://schemas.microsoft.com/office/powerpoint/2010/main" val="18185336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Laitram Corporate PPT Template with Guidelines">
  <a:themeElements>
    <a:clrScheme name="LAITRAM">
      <a:dk1>
        <a:srgbClr val="154474"/>
      </a:dk1>
      <a:lt1>
        <a:srgbClr val="FFFFFF"/>
      </a:lt1>
      <a:dk2>
        <a:srgbClr val="000000"/>
      </a:dk2>
      <a:lt2>
        <a:srgbClr val="E7E6E6"/>
      </a:lt2>
      <a:accent1>
        <a:srgbClr val="184574"/>
      </a:accent1>
      <a:accent2>
        <a:srgbClr val="00718D"/>
      </a:accent2>
      <a:accent3>
        <a:srgbClr val="479EBC"/>
      </a:accent3>
      <a:accent4>
        <a:srgbClr val="E16D24"/>
      </a:accent4>
      <a:accent5>
        <a:srgbClr val="FAA31A"/>
      </a:accent5>
      <a:accent6>
        <a:srgbClr val="FFFFFF"/>
      </a:accent6>
      <a:hlink>
        <a:srgbClr val="479EBC"/>
      </a:hlink>
      <a:folHlink>
        <a:srgbClr val="479E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ralox PPT Template.potx" id="{0A0529D9-DE61-4535-90CE-C3769D5670A8}" vid="{524815DC-DFE8-4158-BC27-EE5E2DA2E388}"/>
    </a:ext>
  </a:extLst>
</a:theme>
</file>

<file path=docMetadata/LabelInfo.xml><?xml version="1.0" encoding="utf-8"?>
<clbl:labelList xmlns:clbl="http://schemas.microsoft.com/office/2020/mipLabelMetadata">
  <clbl:label id="{73f6646d-674a-42b3-b4bc-13429f02a60d}" enabled="1" method="Standard" siteId="{334c20a9-614f-4ea4-a007-b1c681f52075}" removed="0"/>
</clbl:labelList>
</file>

<file path=docProps/app.xml><?xml version="1.0" encoding="utf-8"?>
<Properties xmlns="http://schemas.openxmlformats.org/officeDocument/2006/extended-properties" xmlns:vt="http://schemas.openxmlformats.org/officeDocument/2006/docPropsVTypes">
  <Template>Intralox PPT Template</Template>
  <TotalTime>69</TotalTime>
  <Words>670</Words>
  <Application>Microsoft Office PowerPoint</Application>
  <PresentationFormat>Widescreen</PresentationFormat>
  <Paragraphs>49</Paragraphs>
  <Slides>4</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HelveticaNeueLT Pro 35 Th</vt:lpstr>
      <vt:lpstr>HelveticaNeueLT Pro 47 LtCn</vt:lpstr>
      <vt:lpstr>HelveticaNeueLT Pro 55 Roman</vt:lpstr>
      <vt:lpstr>Minion Pro Capt</vt:lpstr>
      <vt:lpstr>Laitram Corporate PPT Template with Guidelines</vt:lpstr>
      <vt:lpstr>Credly_Docebo_Badge_Integration CFS Hygienic Design</vt:lpstr>
      <vt:lpstr>Credly – Docebo Power Automate Integration</vt:lpstr>
      <vt:lpstr>Flows:  Num of Flows 1</vt:lpstr>
      <vt:lpstr>Flows: No Longer Used Num of Flows: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Rosalind Chester</dc:creator>
  <cp:lastModifiedBy>Rosalind Chester</cp:lastModifiedBy>
  <cp:revision>1</cp:revision>
  <dcterms:created xsi:type="dcterms:W3CDTF">2025-10-09T19:22:22Z</dcterms:created>
  <dcterms:modified xsi:type="dcterms:W3CDTF">2026-03-19T15:56:33Z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780FB6AD-B6EF-4813-80B2-8A991CC964E9</vt:lpwstr>
  </property>
  <property fmtid="{D5CDD505-2E9C-101B-9397-08002B2CF9AE}" pid="3" name="ArticulatePath">
    <vt:lpwstr>https://laitramllc-my.sharepoint.com/personal/rosalind_chester_intralox_com/Documents/Power Automate/Steps to Create a new Expert</vt:lpwstr>
  </property>
</Properties>
</file>